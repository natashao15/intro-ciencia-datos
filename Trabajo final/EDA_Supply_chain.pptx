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sha Orozco Zapata" userId="18ddec2f-8856-4d5b-8e4c-ef2518a61eae" providerId="ADAL" clId="{CCC68602-4D82-4A00-A227-A873F64C6FF8}"/>
    <pc:docChg chg="modSld">
      <pc:chgData name="Natasha Orozco Zapata" userId="18ddec2f-8856-4d5b-8e4c-ef2518a61eae" providerId="ADAL" clId="{CCC68602-4D82-4A00-A227-A873F64C6FF8}" dt="2026-10-04T03:32:02.771" v="20" actId="20577"/>
      <pc:docMkLst>
        <pc:docMk/>
      </pc:docMkLst>
      <pc:sldChg chg="modSp mod">
        <pc:chgData name="Natasha Orozco Zapata" userId="18ddec2f-8856-4d5b-8e4c-ef2518a61eae" providerId="ADAL" clId="{CCC68602-4D82-4A00-A227-A873F64C6FF8}" dt="2026-10-04T03:28:29.946" v="5" actId="20577"/>
        <pc:sldMkLst>
          <pc:docMk/>
          <pc:sldMk cId="0" sldId="257"/>
        </pc:sldMkLst>
        <pc:spChg chg="mod">
          <ac:chgData name="Natasha Orozco Zapata" userId="18ddec2f-8856-4d5b-8e4c-ef2518a61eae" providerId="ADAL" clId="{CCC68602-4D82-4A00-A227-A873F64C6FF8}" dt="2026-10-04T03:28:08.141" v="2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Natasha Orozco Zapata" userId="18ddec2f-8856-4d5b-8e4c-ef2518a61eae" providerId="ADAL" clId="{CCC68602-4D82-4A00-A227-A873F64C6FF8}" dt="2026-10-04T03:28:29.946" v="5" actId="20577"/>
          <ac:spMkLst>
            <pc:docMk/>
            <pc:sldMk cId="0" sldId="257"/>
            <ac:spMk id="24" creationId="{00000000-0000-0000-0000-000000000000}"/>
          </ac:spMkLst>
        </pc:spChg>
      </pc:sldChg>
      <pc:sldChg chg="modSp mod">
        <pc:chgData name="Natasha Orozco Zapata" userId="18ddec2f-8856-4d5b-8e4c-ef2518a61eae" providerId="ADAL" clId="{CCC68602-4D82-4A00-A227-A873F64C6FF8}" dt="2026-10-04T03:29:27.527" v="17" actId="20577"/>
        <pc:sldMkLst>
          <pc:docMk/>
          <pc:sldMk cId="0" sldId="259"/>
        </pc:sldMkLst>
        <pc:spChg chg="mod">
          <ac:chgData name="Natasha Orozco Zapata" userId="18ddec2f-8856-4d5b-8e4c-ef2518a61eae" providerId="ADAL" clId="{CCC68602-4D82-4A00-A227-A873F64C6FF8}" dt="2026-10-04T03:29:17.644" v="10" actId="2057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Natasha Orozco Zapata" userId="18ddec2f-8856-4d5b-8e4c-ef2518a61eae" providerId="ADAL" clId="{CCC68602-4D82-4A00-A227-A873F64C6FF8}" dt="2026-10-04T03:29:27.527" v="17" actId="20577"/>
          <ac:spMkLst>
            <pc:docMk/>
            <pc:sldMk cId="0" sldId="259"/>
            <ac:spMk id="12" creationId="{00000000-0000-0000-0000-000000000000}"/>
          </ac:spMkLst>
        </pc:spChg>
      </pc:sldChg>
      <pc:sldChg chg="modSp mod">
        <pc:chgData name="Natasha Orozco Zapata" userId="18ddec2f-8856-4d5b-8e4c-ef2518a61eae" providerId="ADAL" clId="{CCC68602-4D82-4A00-A227-A873F64C6FF8}" dt="2026-10-04T03:32:02.771" v="20" actId="20577"/>
        <pc:sldMkLst>
          <pc:docMk/>
          <pc:sldMk cId="0" sldId="264"/>
        </pc:sldMkLst>
        <pc:spChg chg="mod">
          <ac:chgData name="Natasha Orozco Zapata" userId="18ddec2f-8856-4d5b-8e4c-ef2518a61eae" providerId="ADAL" clId="{CCC68602-4D82-4A00-A227-A873F64C6FF8}" dt="2026-10-04T03:32:02.771" v="20" actId="20577"/>
          <ac:spMkLst>
            <pc:docMk/>
            <pc:sldMk cId="0" sldId="264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0271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Presentar nombres, universidad y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con contexto de la cadena. Dato impacto: 25,298 retrasados. Promedio 4 dias. No mejora en el tiempo: es estructural.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transicion. Todo gira alrededor de la pregunta de negocio.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nuevo. Trafico es la razon #1 (28%). Retraso uniforme 1-7 dias, media 4. No mejora en el tiempo: es estructural.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Trafico severo multiplica el riesgo por 15. Clima adverso es secundario pero real. Via no aporta.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Proveedor es factor interno #1. Almacen saturado sustentado con datos: quiebre en 84.7%. Transportista como factor complementario.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Riesgo combinado: +17.85 pp. Semaforo nivel_riesgo_integral como herramienta operativa.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protagonismo para las variables creadas. nivel_riesgo_integral es la principal: semaforo operativo.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las 5 conclusiones mas contundentes. Mensaje central: los retrasos son prevenibles y ya identificamos donde y como intervenir.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Predictivo de Retrasos</a:t>
            </a:r>
            <a:endParaRPr lang="en-US" sz="32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Cadena de Suministro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Logistics Delay Dataset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3383280"/>
            <a:ext cx="1828800" cy="274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 txBox="1"/>
          <p:nvPr/>
        </p:nvSpPr>
        <p:spPr>
          <a:xfrm>
            <a:off x="731520" y="36118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Natasha Orozco Zapata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Andres Zabala Restrepo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206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Medellin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Universitario - Introduccion a la Ciencia de Datos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Contexto y El Problema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4572000" cy="13716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 txBox="1"/>
          <p:nvPr/>
        </p:nvSpPr>
        <p:spPr>
          <a:xfrm>
            <a:off x="731520" y="84124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cadena de suministro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0972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envio atraviesa: proveedor (con su historial de confiabilidad), almacen (con su nivel de ocupacion), transportista (con su rating), y condiciones externas (trafico, clima, aduanas) hasta llegar al cliente. El dataset captura toda esta cadena: 100,000 envios y 106 variables.</a:t>
            </a:r>
            <a:endParaRPr lang="en-US" sz="1050" dirty="0"/>
          </a:p>
        </p:txBody>
      </p:sp>
      <p:pic>
        <p:nvPicPr>
          <p:cNvPr id="6" name="Image 0" descr="/home/claude/barra_apil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777240"/>
            <a:ext cx="356616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2677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problema: la empresa no puede anticipar </a:t>
            </a:r>
            <a:r>
              <a:rPr lang="en-US" sz="1300" b="1" dirty="0" err="1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3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300" b="1" dirty="0" err="1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envios</a:t>
            </a:r>
            <a:r>
              <a:rPr lang="en-US" sz="13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van a llegar tarde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320040" cy="320040"/>
          </a:xfrm>
          <a:prstGeom prst="ellipse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 txBox="1"/>
          <p:nvPr/>
        </p:nvSpPr>
        <p:spPr>
          <a:xfrm>
            <a:off x="548640" y="2697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26791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aviso al cliente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28803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25,298 envios retrasados sin notificacion previa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3291840"/>
            <a:ext cx="320040" cy="32004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 txBox="1"/>
          <p:nvPr/>
        </p:nvSpPr>
        <p:spPr>
          <a:xfrm>
            <a:off x="548640" y="3291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32735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Reaccion tardia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3474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reacciona despues del hecho, no antes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3886200"/>
            <a:ext cx="320040" cy="320040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4"/>
          <p:cNvSpPr txBox="1"/>
          <p:nvPr/>
        </p:nvSpPr>
        <p:spPr>
          <a:xfrm>
            <a:off x="548640" y="3886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38679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Causas sin cuantificar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40690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sabe que genera mas retrasos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303520" y="242316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8"/>
          <p:cNvSpPr txBox="1"/>
          <p:nvPr/>
        </p:nvSpPr>
        <p:spPr>
          <a:xfrm>
            <a:off x="5303520" y="25146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25,298</a:t>
            </a:r>
            <a:endParaRPr lang="en-US" sz="3600" dirty="0"/>
          </a:p>
        </p:txBody>
      </p:sp>
      <p:sp>
        <p:nvSpPr>
          <p:cNvPr id="22" name="Text 19"/>
          <p:cNvSpPr txBox="1"/>
          <p:nvPr/>
        </p:nvSpPr>
        <p:spPr>
          <a:xfrm>
            <a:off x="5303520" y="3017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envios retrasados de 100,000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303520" y="3383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retraso promedia 4 dias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puede llegar hasta 185 horas (7.7 dias)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303520" y="3840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problema no ha mejorado en 4 </a:t>
            </a:r>
            <a:r>
              <a:rPr lang="en-US" sz="1000" i="1" dirty="0" err="1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</a:t>
            </a:r>
            <a:r>
              <a:rPr lang="en-US" sz="10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estructural, no estacional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Enfoque de Analisis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CCCCCC">
                <a:alpha val="4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 txBox="1"/>
          <p:nvPr/>
        </p:nvSpPr>
        <p:spPr>
          <a:xfrm>
            <a:off x="100584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negocio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4630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factores operativos estan mas asociados con que un envio se retrase, y que segmentos de la operacion concentran el mayor riesgo?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76809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CCCCCC">
                <a:alpha val="4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 txBox="1"/>
          <p:nvPr/>
        </p:nvSpPr>
        <p:spPr>
          <a:xfrm>
            <a:off x="1005840" y="2560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objetivo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delivery_delayed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26060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Clasificacion binaria (retrasado / a tiempo) que permite identificar que envios tienen riesgo y actuar antes de que ocurra el retraso.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657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analizamos: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envios  |  93 variables tras limpieza  |  3 hipotesis de negocio planteadas antes del analisis  |  5 consultas SQL de validacion  |  7 variables nuevas evaluadas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Radiografia de los Retrasos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68% de los retrasos se explica por solo 4 causas</a:t>
            </a:r>
            <a:endParaRPr lang="en-US" sz="1300" dirty="0"/>
          </a:p>
        </p:txBody>
      </p:sp>
      <p:pic>
        <p:nvPicPr>
          <p:cNvPr id="4" name="Image 0" descr="/home/claude/razones_retra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60120"/>
            <a:ext cx="512064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0" y="96012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3"/>
          <p:cNvSpPr txBox="1"/>
          <p:nvPr/>
        </p:nvSpPr>
        <p:spPr>
          <a:xfrm>
            <a:off x="5669280" y="10241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Cuantos dias se retrasan?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12801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 uniforme de 1 a 7 dias: no hay un pico dominante. Cuando un envio se retrasa, puede tardar 1 dia o 7 con probabilidad similar.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669280" y="1828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Media: 4 dias  |  Moda: 1 dia  |  Rango: 25 a 185 horas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86400" y="251460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 txBox="1"/>
          <p:nvPr/>
        </p:nvSpPr>
        <p:spPr>
          <a:xfrm>
            <a:off x="5669280" y="26060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temporal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669280" y="2880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tasa de retraso se mantiene constante entre 2022 y 2026 (rango: 24.95% a 25.59%) y en todos los meses del </a:t>
            </a:r>
            <a:r>
              <a:rPr lang="en-US" sz="1000" dirty="0" err="1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</a:t>
            </a:r>
            <a:r>
              <a:rPr lang="en-US" sz="1000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(24.70% a 25.67%).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669280" y="3429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es estructural y permanente: no se resuelve esperando un mejor mes o </a:t>
            </a:r>
            <a:r>
              <a:rPr lang="en-US" sz="1000" i="1" dirty="0" err="1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</a:t>
            </a:r>
            <a:r>
              <a:rPr lang="en-US" sz="10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Externos que Generan Retrasos</a:t>
            </a:r>
            <a:endParaRPr lang="en-US" sz="2600" dirty="0"/>
          </a:p>
        </p:txBody>
      </p:sp>
      <p:pic>
        <p:nvPicPr>
          <p:cNvPr id="3" name="Image 0" descr="/home/claude/trafi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77240"/>
            <a:ext cx="5303520" cy="3108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669280" y="777240"/>
            <a:ext cx="3200400" cy="164592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2"/>
          <p:cNvSpPr txBox="1"/>
          <p:nvPr/>
        </p:nvSpPr>
        <p:spPr>
          <a:xfrm>
            <a:off x="5852160" y="8686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Trafico: factor #1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852160" y="10972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15x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1600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riesgo en trafico severo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(51.11%) vs bajo (3.49%)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669280" y="2606040"/>
            <a:ext cx="3200400" cy="1463040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 txBox="1"/>
          <p:nvPr/>
        </p:nvSpPr>
        <p:spPr>
          <a:xfrm>
            <a:off x="5852160" y="26974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factores externos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85216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 adverso (Storm, Snow, Heavy Rain, Fog): 31.23% de retraso vs 24% en clima normal.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852160" y="3474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 de la via: NO aporta. Rango de solo 1.2 pp entre la mejor y peor via.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Hallazgo: se hipotetizo que trafico + via se potenciaban mutuamente. Los datos lo rechazan: el trafico domina solo.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Internos que Generan Retrasos</a:t>
            </a:r>
            <a:endParaRPr lang="en-US" sz="2600" dirty="0"/>
          </a:p>
        </p:txBody>
      </p:sp>
      <p:pic>
        <p:nvPicPr>
          <p:cNvPr id="3" name="Image 0" descr="/home/claude/barras_proveed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31520"/>
            <a:ext cx="4846320" cy="2743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212080" y="731520"/>
            <a:ext cx="3657600" cy="109728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2"/>
          <p:cNvSpPr txBox="1"/>
          <p:nvPr/>
        </p:nvSpPr>
        <p:spPr>
          <a:xfrm>
            <a:off x="5394960" y="8046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Proveedor: factor interno #1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394960" y="1051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 cada 10 envios llegan tarde con proveedores de baja confiabilidad, vs solo 1 de cada 10 con alta confiabilidad. Correlacion -0.25, la mas fuerte del dataset.</a:t>
            </a:r>
            <a:endParaRPr lang="en-US" sz="1000" dirty="0"/>
          </a:p>
        </p:txBody>
      </p:sp>
      <p:pic>
        <p:nvPicPr>
          <p:cNvPr id="7" name="Image 1" descr="/home/claude/almacen_saturad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965960"/>
            <a:ext cx="3657600" cy="22860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82880" y="36576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 saturado: el retraso se acelera a partir del 84.7% de utilizacion (P75). De 25% de retraso pasa a 30-40%.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182880" y="4160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Transportista: carrier_rating correlacion -0.22. Peor rating = mas retrasos. Patron independiente del modo de transporte.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los Factores se Combinan</a:t>
            </a:r>
            <a:endParaRPr lang="en-US" sz="2600" dirty="0"/>
          </a:p>
        </p:txBody>
      </p:sp>
      <p:pic>
        <p:nvPicPr>
          <p:cNvPr id="3" name="Image 0" descr="/home/claude/barras_comparativ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31520"/>
            <a:ext cx="5029200" cy="3474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94960" y="731520"/>
            <a:ext cx="3474720" cy="164592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2"/>
          <p:cNvSpPr txBox="1"/>
          <p:nvPr/>
        </p:nvSpPr>
        <p:spPr>
          <a:xfrm>
            <a:off x="5577840" y="8229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 + Transportista debiles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577840" y="1051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+17.85 pp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577840" y="15544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diferencia vs promedio general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43.15% vs 25.30%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23,384 envios (23.4% del total)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394960" y="256032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 txBox="1"/>
          <p:nvPr/>
        </p:nvSpPr>
        <p:spPr>
          <a:xfrm>
            <a:off x="5577840" y="26517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creada: Nivel de Riesgo Integral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577840" y="2926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Combinamos los 3 factores top (trafico severo + clima adverso + proveedor debil) en un semaforo operativo: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60720" y="3429000"/>
            <a:ext cx="228600" cy="22860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 txBox="1"/>
          <p:nvPr/>
        </p:nvSpPr>
        <p:spPr>
          <a:xfrm>
            <a:off x="6080760" y="34107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040880" y="34107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factores activos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60720" y="3749040"/>
            <a:ext cx="228600" cy="22860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 txBox="1"/>
          <p:nvPr/>
        </p:nvSpPr>
        <p:spPr>
          <a:xfrm>
            <a:off x="6080760" y="37307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040880" y="37307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factor activo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760720" y="4069080"/>
            <a:ext cx="228600" cy="228600"/>
          </a:xfrm>
          <a:prstGeom prst="ellipse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5"/>
          <p:cNvSpPr txBox="1"/>
          <p:nvPr/>
        </p:nvSpPr>
        <p:spPr>
          <a:xfrm>
            <a:off x="6080760" y="40507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040880" y="40507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factores activos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5577840" y="42062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priorizar envios antes de que salgan.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Creadas para Identificar Retrasos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31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los hallazgos del EDA, creamos 4 variables nuevas que traducen el analisis en herramientas operativas: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777240"/>
          </a:xfrm>
          <a:prstGeom prst="roundRect">
            <a:avLst>
              <a:gd name="adj" fmla="val 11765"/>
            </a:avLst>
          </a:prstGeom>
          <a:solidFill>
            <a:srgbClr val="1E4D7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 txBox="1"/>
          <p:nvPr/>
        </p:nvSpPr>
        <p:spPr>
          <a:xfrm>
            <a:off x="7315200" y="12344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2618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nivel_riesgo_integral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2618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5361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Semaforo Bajo/Medio/Alto que combina trafico severo + clima adverso + proveedor debil. Operaciones la usa sin conocimiento tecnico para priorizar cada envio antes de que salga.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7680960" cy="777240"/>
          </a:xfrm>
          <a:prstGeom prst="roundRect">
            <a:avLst>
              <a:gd name="adj" fmla="val 11765"/>
            </a:avLst>
          </a:prstGeom>
          <a:solidFill>
            <a:srgbClr val="1534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 txBox="1"/>
          <p:nvPr/>
        </p:nvSpPr>
        <p:spPr>
          <a:xfrm>
            <a:off x="914400" y="21762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riesgo_proveedor_transportista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1762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Binaria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4505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cuando proveedor Y transportista estan ambos por debajo del promedio. Identifica el 23.4% de envios con 43.15% de retraso.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7680960" cy="777240"/>
          </a:xfrm>
          <a:prstGeom prst="roundRect">
            <a:avLst>
              <a:gd name="adj" fmla="val 11765"/>
            </a:avLst>
          </a:prstGeom>
          <a:solidFill>
            <a:srgbClr val="1534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 txBox="1"/>
          <p:nvPr/>
        </p:nvSpPr>
        <p:spPr>
          <a:xfrm>
            <a:off x="914400" y="30906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clima_adverso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0906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Binaria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33649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Storm, Snow, Heavy Rain y Fog en una sola senal. El 17.97% de envios con clima adverso tiene 31.23% de retraso vs 24% en clima normal.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931920"/>
            <a:ext cx="7680960" cy="777240"/>
          </a:xfrm>
          <a:prstGeom prst="roundRect">
            <a:avLst>
              <a:gd name="adj" fmla="val 11765"/>
            </a:avLst>
          </a:prstGeom>
          <a:solidFill>
            <a:srgbClr val="1534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 txBox="1"/>
          <p:nvPr/>
        </p:nvSpPr>
        <p:spPr>
          <a:xfrm>
            <a:off x="914400" y="40050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almacen_saturado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40050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Binaria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42793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almacenes operando por encima del 84.7% de capacidad (P75). El 24.87% de envios en almacenes saturados tiene 35.53% de retraso vs 21.91%.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8503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25% de retrasos es prevenible, no inevitable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12471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retrasos estan concentrados en combinaciones especificas de proveedor debil, trafico severo y almacen saturado. Identificar esos envios antes de que salgan es posible.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733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655064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trafico causa el 28% de los retrasos y multiplica el riesgo por 15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92938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factor externo mas determinante. Clima adverso es secundario (16.32%). La condicion de la via y la distancia no influyen.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4780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459736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es estructural: 4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 mejorar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734056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tasa de retraso se mantiene constante entre 2022 y 2026. No hay estacionalidad ni tendencia de mejora. Sin intervencion, el proximo anio sera igual.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2826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26440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23,384 envios son el foco prioritario de accion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53872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proveedor y transportista estan ambos por debajo del promedio, el retraso sube 17.85 pp (a 43.15%). Renegociar contratos o reasignar transportistas aqui tiene el mayor impacto.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0873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06908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Creamos un semaforo operativo listo para implementar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3434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nivel_riesgo_integral clasifica cada envio en Bajo, Medio o Alto riesgo. Operaciones puede usarlo sin conocimiento tecnico para priorizar monitoreo antes de que el envio salga.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Kaggle - Supply Chain Logistics Delay Dataset (Mobeen Fatimah) | 100,000 registros | Herramientas: Python, Pandas, Plotly, SQL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1222</Words>
  <Application>Microsoft Office PowerPoint</Application>
  <PresentationFormat>Presentación en pantalla (16:9)</PresentationFormat>
  <Paragraphs>122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Natasha Orozco Zapata</cp:lastModifiedBy>
  <cp:revision>1</cp:revision>
  <dcterms:created xsi:type="dcterms:W3CDTF">2026-10-04T03:22:10Z</dcterms:created>
  <dcterms:modified xsi:type="dcterms:W3CDTF">2026-10-04T03:32:22Z</dcterms:modified>
</cp:coreProperties>
</file>